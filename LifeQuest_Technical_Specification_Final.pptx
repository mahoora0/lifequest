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493fe1636946d2" /><Relationship Type="http://schemas.openxmlformats.org/officeDocument/2006/relationships/extended-properties" Target="/docProps/app.xml" Id="R09c9ec11e3ab4a02" /><Relationship Type="http://schemas.openxmlformats.org/officeDocument/2006/relationships/officeDocument" Target="/ppt/presentation.xml" Id="Ra8e885bf776345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760fe5fc7b4b79"/>
  </p:sldMasterIdLst>
  <p:notesMasterIdLst>
    <p:notesMasterId xmlns:r="http://schemas.openxmlformats.org/officeDocument/2006/relationships" r:id="R7ea0604e860a4745"/>
  </p:notesMasterIdLst>
  <p:sldIdLst>
    <p:sldId xmlns:r="http://schemas.openxmlformats.org/officeDocument/2006/relationships" id="256" r:id="Rc16818fc871c4187"/>
    <p:sldId xmlns:r="http://schemas.openxmlformats.org/officeDocument/2006/relationships" id="257" r:id="Ree6c4f3a95b84bb3"/>
    <p:sldId xmlns:r="http://schemas.openxmlformats.org/officeDocument/2006/relationships" id="258" r:id="R5a33fd02a7a44618"/>
    <p:sldId xmlns:r="http://schemas.openxmlformats.org/officeDocument/2006/relationships" id="259" r:id="R58bd5c30b8f841f1"/>
    <p:sldId xmlns:r="http://schemas.openxmlformats.org/officeDocument/2006/relationships" id="260" r:id="R5bab2fede61e4bf5"/>
    <p:sldId xmlns:r="http://schemas.openxmlformats.org/officeDocument/2006/relationships" id="261" r:id="Re6f068af527c4d50"/>
    <p:sldId xmlns:r="http://schemas.openxmlformats.org/officeDocument/2006/relationships" id="262" r:id="R2b4163d4bb05474c"/>
    <p:sldId xmlns:r="http://schemas.openxmlformats.org/officeDocument/2006/relationships" id="263" r:id="Rd7393e33782e41af"/>
    <p:sldId xmlns:r="http://schemas.openxmlformats.org/officeDocument/2006/relationships" id="264" r:id="R269a864e082e463d"/>
    <p:sldId xmlns:r="http://schemas.openxmlformats.org/officeDocument/2006/relationships" id="265" r:id="Rd97a9dc5b6324295"/>
    <p:sldId xmlns:r="http://schemas.openxmlformats.org/officeDocument/2006/relationships" id="266" r:id="Rd9ac5cb78b4d458b"/>
    <p:sldId xmlns:r="http://schemas.openxmlformats.org/officeDocument/2006/relationships" id="267" r:id="R425bbc22e6e1454b"/>
    <p:sldId xmlns:r="http://schemas.openxmlformats.org/officeDocument/2006/relationships" id="268" r:id="R865739857c5a4b34"/>
    <p:sldId xmlns:r="http://schemas.openxmlformats.org/officeDocument/2006/relationships" id="269" r:id="R66d3b5aaef0944e9"/>
    <p:sldId xmlns:r="http://schemas.openxmlformats.org/officeDocument/2006/relationships" id="270" r:id="R0a5b2eecd08d4ab1"/>
    <p:sldId xmlns:r="http://schemas.openxmlformats.org/officeDocument/2006/relationships" id="271" r:id="R590cae08dd1542d4"/>
    <p:sldId xmlns:r="http://schemas.openxmlformats.org/officeDocument/2006/relationships" id="272" r:id="R3289d89dd70a458a"/>
    <p:sldId xmlns:r="http://schemas.openxmlformats.org/officeDocument/2006/relationships" id="273" r:id="Rf5ccfa7abb0f4802"/>
    <p:sldId xmlns:r="http://schemas.openxmlformats.org/officeDocument/2006/relationships" id="274" r:id="R79c0651bb87d4fb1"/>
    <p:sldId xmlns:r="http://schemas.openxmlformats.org/officeDocument/2006/relationships" id="275" r:id="Re464b5633c5d4f5e"/>
    <p:sldId xmlns:r="http://schemas.openxmlformats.org/officeDocument/2006/relationships" id="276" r:id="R7e629af79a66449b"/>
    <p:sldId xmlns:r="http://schemas.openxmlformats.org/officeDocument/2006/relationships" id="277" r:id="R5259daf6d75c4e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a9f8a595b54a3c" /><Relationship Type="http://schemas.openxmlformats.org/officeDocument/2006/relationships/slideMaster" Target="/ppt/slideMasters/slideMaster1.xml" Id="R49760fe5fc7b4b79" /><Relationship Type="http://schemas.openxmlformats.org/officeDocument/2006/relationships/notesMaster" Target="/ppt/notesMasters/notesMaster1.xml" Id="R7ea0604e860a4745" /><Relationship Type="http://schemas.openxmlformats.org/officeDocument/2006/relationships/presProps" Target="/ppt/presProps.xml" Id="Rd4cd39d986ab4d0f" /><Relationship Type="http://schemas.openxmlformats.org/officeDocument/2006/relationships/tableStyles" Target="/ppt/tableStyles.xml" Id="Rbdc2ab8241d84aa7" /><Relationship Type="http://schemas.openxmlformats.org/officeDocument/2006/relationships/slide" Target="/ppt/slides/slide1.xml" Id="Rc16818fc871c4187" /><Relationship Type="http://schemas.openxmlformats.org/officeDocument/2006/relationships/slide" Target="/ppt/slides/slide2.xml" Id="Ree6c4f3a95b84bb3" /><Relationship Type="http://schemas.openxmlformats.org/officeDocument/2006/relationships/slide" Target="/ppt/slides/slide3.xml" Id="R5a33fd02a7a44618" /><Relationship Type="http://schemas.openxmlformats.org/officeDocument/2006/relationships/slide" Target="/ppt/slides/slide4.xml" Id="R58bd5c30b8f841f1" /><Relationship Type="http://schemas.openxmlformats.org/officeDocument/2006/relationships/slide" Target="/ppt/slides/slide5.xml" Id="R5bab2fede61e4bf5" /><Relationship Type="http://schemas.openxmlformats.org/officeDocument/2006/relationships/slide" Target="/ppt/slides/slide6.xml" Id="Re6f068af527c4d50" /><Relationship Type="http://schemas.openxmlformats.org/officeDocument/2006/relationships/slide" Target="/ppt/slides/slide7.xml" Id="R2b4163d4bb05474c" /><Relationship Type="http://schemas.openxmlformats.org/officeDocument/2006/relationships/slide" Target="/ppt/slides/slide8.xml" Id="Rd7393e33782e41af" /><Relationship Type="http://schemas.openxmlformats.org/officeDocument/2006/relationships/slide" Target="/ppt/slides/slide9.xml" Id="R269a864e082e463d" /><Relationship Type="http://schemas.openxmlformats.org/officeDocument/2006/relationships/slide" Target="/ppt/slides/slide10.xml" Id="Rd97a9dc5b6324295" /><Relationship Type="http://schemas.openxmlformats.org/officeDocument/2006/relationships/slide" Target="/ppt/slides/slide11.xml" Id="Rd9ac5cb78b4d458b" /><Relationship Type="http://schemas.openxmlformats.org/officeDocument/2006/relationships/slide" Target="/ppt/slides/slide12.xml" Id="R425bbc22e6e1454b" /><Relationship Type="http://schemas.openxmlformats.org/officeDocument/2006/relationships/slide" Target="/ppt/slides/slide13.xml" Id="R865739857c5a4b34" /><Relationship Type="http://schemas.openxmlformats.org/officeDocument/2006/relationships/slide" Target="/ppt/slides/slide14.xml" Id="R66d3b5aaef0944e9" /><Relationship Type="http://schemas.openxmlformats.org/officeDocument/2006/relationships/slide" Target="/ppt/slides/slide15.xml" Id="R0a5b2eecd08d4ab1" /><Relationship Type="http://schemas.openxmlformats.org/officeDocument/2006/relationships/slide" Target="/ppt/slides/slide16.xml" Id="R590cae08dd1542d4" /><Relationship Type="http://schemas.openxmlformats.org/officeDocument/2006/relationships/slide" Target="/ppt/slides/slide17.xml" Id="R3289d89dd70a458a" /><Relationship Type="http://schemas.openxmlformats.org/officeDocument/2006/relationships/slide" Target="/ppt/slides/slide18.xml" Id="Rf5ccfa7abb0f4802" /><Relationship Type="http://schemas.openxmlformats.org/officeDocument/2006/relationships/slide" Target="/ppt/slides/slide19.xml" Id="R79c0651bb87d4fb1" /><Relationship Type="http://schemas.openxmlformats.org/officeDocument/2006/relationships/slide" Target="/ppt/slides/slide20.xml" Id="Re464b5633c5d4f5e" /><Relationship Type="http://schemas.openxmlformats.org/officeDocument/2006/relationships/slide" Target="/ppt/slides/slide21.xml" Id="R7e629af79a66449b" /><Relationship Type="http://schemas.openxmlformats.org/officeDocument/2006/relationships/slide" Target="/ppt/slides/slide22.xml" Id="R5259daf6d75c4e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e5a089407e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f86e8ae49d4098" /><Relationship Type="http://schemas.openxmlformats.org/officeDocument/2006/relationships/notesMaster" Target="/ppt/notesMasters/notesMaster1.xml" Id="Ra38cd95980b944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382e2c42a94ec3" /><Relationship Type="http://schemas.openxmlformats.org/officeDocument/2006/relationships/notesMaster" Target="/ppt/notesMasters/notesMaster1.xml" Id="R77cd7c93ac9e4d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024b6681446f9" /><Relationship Type="http://schemas.openxmlformats.org/officeDocument/2006/relationships/notesMaster" Target="/ppt/notesMasters/notesMaster1.xml" Id="R7f85ab20390547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38d32e0a5d4b40" /><Relationship Type="http://schemas.openxmlformats.org/officeDocument/2006/relationships/notesMaster" Target="/ppt/notesMasters/notesMaster1.xml" Id="R1707558f32b5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43bf3a70734fe3" /><Relationship Type="http://schemas.openxmlformats.org/officeDocument/2006/relationships/notesMaster" Target="/ppt/notesMasters/notesMaster1.xml" Id="R3028acad8bd848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507ec6d65b4e40" /><Relationship Type="http://schemas.openxmlformats.org/officeDocument/2006/relationships/notesMaster" Target="/ppt/notesMasters/notesMaster1.xml" Id="R59257930e25347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42502aab844be6" /><Relationship Type="http://schemas.openxmlformats.org/officeDocument/2006/relationships/notesMaster" Target="/ppt/notesMasters/notesMaster1.xml" Id="R7499e8431c8142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2d78e1a9214d2c" /><Relationship Type="http://schemas.openxmlformats.org/officeDocument/2006/relationships/notesMaster" Target="/ppt/notesMasters/notesMaster1.xml" Id="R7604fe1e216140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b843b1a8e4c9b" /><Relationship Type="http://schemas.openxmlformats.org/officeDocument/2006/relationships/notesMaster" Target="/ppt/notesMasters/notesMaster1.xml" Id="Re52b6b51c44e4a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77436b23b14754" /><Relationship Type="http://schemas.openxmlformats.org/officeDocument/2006/relationships/notesMaster" Target="/ppt/notesMasters/notesMaster1.xml" Id="R61b8f711453741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eb313404f449ee" /><Relationship Type="http://schemas.openxmlformats.org/officeDocument/2006/relationships/notesMaster" Target="/ppt/notesMasters/notesMaster1.xml" Id="R9472bc23f6604c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ae22db60ec4e52" /><Relationship Type="http://schemas.openxmlformats.org/officeDocument/2006/relationships/notesMaster" Target="/ppt/notesMasters/notesMaster1.xml" Id="R12285b13097b4a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96ef99f98d475a" /><Relationship Type="http://schemas.openxmlformats.org/officeDocument/2006/relationships/notesMaster" Target="/ppt/notesMasters/notesMaster1.xml" Id="R5c717f6e229a47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4b4486a5314457" /><Relationship Type="http://schemas.openxmlformats.org/officeDocument/2006/relationships/notesMaster" Target="/ppt/notesMasters/notesMaster1.xml" Id="R8cab0691e1e64d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d2b73dc0714311" /><Relationship Type="http://schemas.openxmlformats.org/officeDocument/2006/relationships/notesMaster" Target="/ppt/notesMasters/notesMaster1.xml" Id="R0716bf4527d549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cd06e446714d31" /><Relationship Type="http://schemas.openxmlformats.org/officeDocument/2006/relationships/notesMaster" Target="/ppt/notesMasters/notesMaster1.xml" Id="R199238583ad84d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156058660e4f78" /><Relationship Type="http://schemas.openxmlformats.org/officeDocument/2006/relationships/notesMaster" Target="/ppt/notesMasters/notesMaster1.xml" Id="Rddd05d12daf345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19557974c4440c" /><Relationship Type="http://schemas.openxmlformats.org/officeDocument/2006/relationships/notesMaster" Target="/ppt/notesMasters/notesMaster1.xml" Id="Ra56e5a8802bc4b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8aa3ed808c45d6" /><Relationship Type="http://schemas.openxmlformats.org/officeDocument/2006/relationships/notesMaster" Target="/ppt/notesMasters/notesMaster1.xml" Id="Rc429736397f842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94246a20ae465a" /><Relationship Type="http://schemas.openxmlformats.org/officeDocument/2006/relationships/notesMaster" Target="/ppt/notesMasters/notesMaster1.xml" Id="R1383b2fdffe94c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43c0ce4102499c" /><Relationship Type="http://schemas.openxmlformats.org/officeDocument/2006/relationships/notesMaster" Target="/ppt/notesMasters/notesMaster1.xml" Id="R9da38370de5a47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dd9069896e48b6" /><Relationship Type="http://schemas.openxmlformats.org/officeDocument/2006/relationships/notesMaster" Target="/ppt/notesMasters/notesMaster1.xml" Id="R887bd9e9e72842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db711b5c5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24fdd30b7a4112" /><Relationship Type="http://schemas.openxmlformats.org/officeDocument/2006/relationships/slideLayout" Target="/ppt/slideLayouts/slideLayout1.xml" Id="Ra392baa2415046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92baa24150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37850bfaa4156" /><Relationship Type="http://schemas.openxmlformats.org/officeDocument/2006/relationships/image" Target="/ppt/media/image.png" Id="R96a7a692945142dd" /><Relationship Type="http://schemas.openxmlformats.org/officeDocument/2006/relationships/image" Target="/ppt/media/image2.png" Id="R5f1ed447e5ad4be7" /><Relationship Type="http://schemas.openxmlformats.org/officeDocument/2006/relationships/notesSlide" Target="/ppt/notesSlides/notesSlide1.xml" Id="R3a40ead11d5140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152b00c7e4ec0" /><Relationship Type="http://schemas.openxmlformats.org/officeDocument/2006/relationships/notesSlide" Target="/ppt/notesSlides/notesSlide2.xml" Id="R9c19c666dddd46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7ae5f67b14428" /><Relationship Type="http://schemas.openxmlformats.org/officeDocument/2006/relationships/notesSlide" Target="/ppt/notesSlides/notesSlide3.xml" Id="Rc3c35823fefe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969827f51421f" /><Relationship Type="http://schemas.openxmlformats.org/officeDocument/2006/relationships/notesSlide" Target="/ppt/notesSlides/notesSlide4.xml" Id="R5749f372980840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016e3f9b2436a" /><Relationship Type="http://schemas.openxmlformats.org/officeDocument/2006/relationships/notesSlide" Target="/ppt/notesSlides/notesSlide5.xml" Id="R986c8797292d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3e98b47904b1a" /><Relationship Type="http://schemas.openxmlformats.org/officeDocument/2006/relationships/notesSlide" Target="/ppt/notesSlides/notesSlide6.xml" Id="R90ca1e5e1cae47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21f49c5f14c58" /><Relationship Type="http://schemas.openxmlformats.org/officeDocument/2006/relationships/notesSlide" Target="/ppt/notesSlides/notesSlide7.xml" Id="R09e1740333044a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b404a629f418b" /><Relationship Type="http://schemas.openxmlformats.org/officeDocument/2006/relationships/image" Target="/ppt/media/image3.png" Id="R4aa9e64cddaf40e1" /><Relationship Type="http://schemas.openxmlformats.org/officeDocument/2006/relationships/notesSlide" Target="/ppt/notesSlides/notesSlide8.xml" Id="R7f86bbefc5de45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3dbfe53694577" /><Relationship Type="http://schemas.openxmlformats.org/officeDocument/2006/relationships/image" Target="/ppt/media/image4.png" Id="Rca88e0399ada4504" /><Relationship Type="http://schemas.openxmlformats.org/officeDocument/2006/relationships/image" Target="/ppt/media/image5.png" Id="R9173b0a278b948af" /><Relationship Type="http://schemas.openxmlformats.org/officeDocument/2006/relationships/image" Target="/ppt/media/image6.png" Id="R5613187faa3c4718" /><Relationship Type="http://schemas.openxmlformats.org/officeDocument/2006/relationships/notesSlide" Target="/ppt/notesSlides/notesSlide9.xml" Id="R88249c4e43ee4e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31d815b9749e7" /><Relationship Type="http://schemas.openxmlformats.org/officeDocument/2006/relationships/image" Target="/ppt/media/image7.png" Id="R7c4edad6ebe247df" /><Relationship Type="http://schemas.openxmlformats.org/officeDocument/2006/relationships/image" Target="/ppt/media/image8.png" Id="R52919a3b88404855" /><Relationship Type="http://schemas.openxmlformats.org/officeDocument/2006/relationships/notesSlide" Target="/ppt/notesSlides/notesSlide10.xml" Id="R980137ad66ae41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5808f9a174d32" /><Relationship Type="http://schemas.openxmlformats.org/officeDocument/2006/relationships/image" Target="/ppt/media/image9.png" Id="Rbed58d851c194100" /><Relationship Type="http://schemas.openxmlformats.org/officeDocument/2006/relationships/image" Target="/ppt/media/image10.png" Id="R0ab63727f5534084" /><Relationship Type="http://schemas.openxmlformats.org/officeDocument/2006/relationships/image" Target="/ppt/media/image11.png" Id="R3eeaa74ffe79426a" /><Relationship Type="http://schemas.openxmlformats.org/officeDocument/2006/relationships/notesSlide" Target="/ppt/notesSlides/notesSlide11.xml" Id="R1942c6406ccc41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be84b284d4046" /><Relationship Type="http://schemas.openxmlformats.org/officeDocument/2006/relationships/image" Target="/ppt/media/image12.png" Id="R187c149880be4bb9" /><Relationship Type="http://schemas.openxmlformats.org/officeDocument/2006/relationships/image" Target="/ppt/media/image13.png" Id="Re9ac37b44d0f464d" /><Relationship Type="http://schemas.openxmlformats.org/officeDocument/2006/relationships/notesSlide" Target="/ppt/notesSlides/notesSlide12.xml" Id="R726975a90ee44e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3821e9fb647b2" /><Relationship Type="http://schemas.openxmlformats.org/officeDocument/2006/relationships/image" Target="/ppt/media/image14.png" Id="R090e218544d34416" /><Relationship Type="http://schemas.openxmlformats.org/officeDocument/2006/relationships/notesSlide" Target="/ppt/notesSlides/notesSlide13.xml" Id="R9ce88277ca4d49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348acbd5441b0" /><Relationship Type="http://schemas.openxmlformats.org/officeDocument/2006/relationships/image" Target="/ppt/media/image15.png" Id="Rf261461d74524fce" /><Relationship Type="http://schemas.openxmlformats.org/officeDocument/2006/relationships/notesSlide" Target="/ppt/notesSlides/notesSlide14.xml" Id="R6f29f5ea586145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01ffa69604b95" /><Relationship Type="http://schemas.openxmlformats.org/officeDocument/2006/relationships/notesSlide" Target="/ppt/notesSlides/notesSlide15.xml" Id="R318756f8dc8c4e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23f3e54614e32" /><Relationship Type="http://schemas.openxmlformats.org/officeDocument/2006/relationships/notesSlide" Target="/ppt/notesSlides/notesSlide16.xml" Id="R558b0503c3ab48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ff33c83724e70" /><Relationship Type="http://schemas.openxmlformats.org/officeDocument/2006/relationships/notesSlide" Target="/ppt/notesSlides/notesSlide17.xml" Id="R13cfc648a3914c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d1b1cfa54119" /><Relationship Type="http://schemas.openxmlformats.org/officeDocument/2006/relationships/notesSlide" Target="/ppt/notesSlides/notesSlide18.xml" Id="Rd77598c826894f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0fef95a6a4754" /><Relationship Type="http://schemas.openxmlformats.org/officeDocument/2006/relationships/notesSlide" Target="/ppt/notesSlides/notesSlide19.xml" Id="R35b63a018e7a4c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7605e656b4c80" /><Relationship Type="http://schemas.openxmlformats.org/officeDocument/2006/relationships/notesSlide" Target="/ppt/notesSlides/notesSlide20.xml" Id="Rf02349ac31d54f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d7d4672e451e" /><Relationship Type="http://schemas.openxmlformats.org/officeDocument/2006/relationships/notesSlide" Target="/ppt/notesSlides/notesSlide21.xml" Id="Rc9c021631b844c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2d590e098451c" /><Relationship Type="http://schemas.openxmlformats.org/officeDocument/2006/relationships/notesSlide" Target="/ppt/notesSlides/notesSlide22.xml" Id="R45b9d15e9234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F5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4D5D0-279B-4B07-9753-AD1E004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3F5030"/>
          </a:solidFill>
          <a:ln xmlns:a="http://schemas.openxmlformats.org/drawingml/2006/main" w="9525">
            <a:solidFill>
              <a:srgbClr val="3F50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D8CD7-91B3-4020-BCFD-132051E5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857250"/>
            <a:ext cx="5715000" cy="85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74463-0BBE-49E4-831B-28235916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85800"/>
            <a:ext cx="2381250" cy="495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7a692945142dd"/>
          <a:srcRect xmlns:a="http://schemas.openxmlformats.org/drawingml/2006/main" l="0" t="600" r="0" b="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838200"/>
            <a:ext cx="2114550" cy="46482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ed447e5ad4be7"/>
          <a:stretch xmlns:a="http://schemas.openxmlformats.org/drawingml/2006/main"/>
        </p:blipFill>
        <p:spPr>
          <a:xfrm xmlns:a="http://schemas.openxmlformats.org/drawingml/2006/main">
            <a:off x="7017968" y="4238625"/>
            <a:ext cx="1346939" cy="1476375"/>
          </a:xfrm>
          <a:prstGeom xmlns:a="http://schemas.openxmlformats.org/drawingml/2006/main" prst="roundRect">
            <a:avLst>
              <a:gd name="adj" fmla="val 774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25EBD-8031-4314-B0C4-DF03C9B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3143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17764-9058-4ACC-9CD3-91620B9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43B2A"/>
                </a:solidFill>
              </a:defRPr>
            </a:pPr>
            <a:r>
              <a:rPr sz="1050" b="1">
                <a:solidFill>
                  <a:srgbClr val="443B2A"/>
                </a:solidFill>
              </a:rPr>
              <a:t>PROJECT TECHNICAL SPECIFICATION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A22BD-6FFC-4DA2-A61F-3C2AF39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DF6"/>
                </a:solidFill>
              </a:defRPr>
            </a:pPr>
            <a:r>
              <a:rPr sz="5250" b="1">
                <a:solidFill>
                  <a:srgbClr val="FFFDF6"/>
                </a:solidFill>
              </a:rPr>
              <a:t>LIFE</a:t>
            </a:r>
          </a:p>
          <a:p xmlns:a="http://schemas.openxmlformats.org/drawingml/2006/main">
            <a:pPr algn="l">
              <a:defRPr sz="5250" b="1">
                <a:solidFill>
                  <a:srgbClr val="FFFDF6"/>
                </a:solidFill>
              </a:defRPr>
            </a:pPr>
            <a:r>
              <a:rPr sz="5250" b="1">
                <a:solidFill>
                  <a:srgbClr val="FFFDF6"/>
                </a:solidFill>
              </a:rPr>
              <a:t>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AD1D0-5251-4B36-BF0E-88222AF3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E9D0"/>
                </a:solidFill>
              </a:defRPr>
            </a:pPr>
            <a:r>
              <a:rPr sz="2100" b="1">
                <a:solidFill>
                  <a:srgbClr val="F3E9D0"/>
                </a:solidFill>
              </a:rPr>
              <a:t>일상을 퀘스트로 만들고</a:t>
            </a:r>
          </a:p>
          <a:p xmlns:a="http://schemas.openxmlformats.org/drawingml/2006/main">
            <a:pPr algn="l">
              <a:defRPr sz="2100" b="1">
                <a:solidFill>
                  <a:srgbClr val="F3E9D0"/>
                </a:solidFill>
              </a:defRPr>
            </a:pPr>
            <a:r>
              <a:rPr sz="2100" b="1">
                <a:solidFill>
                  <a:srgbClr val="F3E9D0"/>
                </a:solidFill>
              </a:rPr>
              <a:t>기록을 성장으로 연결한다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D9AD3-F813-47C4-914B-E64F1FFF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FC5"/>
                </a:solidFill>
              </a:defRPr>
            </a:pPr>
            <a:r>
              <a:rPr sz="1425" b="0">
                <a:solidFill>
                  <a:srgbClr val="D8DFC5"/>
                </a:solidFill>
              </a:rPr>
              <a:t>Flutter · React · Spring Boot · MySQL · JWT · AI · GPS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9CA97-AA80-4B30-9138-91F3700B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C9A9"/>
                </a:solidFill>
              </a:defRPr>
            </a:pPr>
            <a:r>
              <a:rPr sz="900" b="1">
                <a:solidFill>
                  <a:srgbClr val="BFC9A9"/>
                </a:solidFill>
              </a:rPr>
              <a:t>TECHNICAL SPECIFICATION  /  2026</a:t>
            </a:r>
          </a:p>
        </p:txBody>
      </p:sp>
    </p:spTree>
    <p:extLst>
      <p:ext uri="{BB962C8B-B14F-4D97-AF65-F5344CB8AC3E}">
        <p14:creationId xmlns:p14="http://schemas.microsoft.com/office/powerpoint/2010/main" val="1442599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B51EFE-7EF4-4247-81C2-8FA8632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A0937-8F3E-4C7B-8F49-DB0E00BC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행동–보상–기록이 이어지는 현실 RPG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71E15-16CD-438D-B82B-710BE998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54D84-3134-4F2F-BB45-5ED917B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D891D-EB1B-4935-A5FA-FC99A92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333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770E8-DA2C-45D6-9C73-4BAA4DCA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38D54-E655-4BE3-959A-AE507EDC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C3822-0E40-4B71-BC0F-608EFAB1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일간·주간·지역·그룹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3DD13-AE87-4065-BB60-17DCCD14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333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71C4E-E8F0-406E-88DD-1F5565E1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FA445-31E9-4B54-8478-53D63A89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GROWTH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A7D5D-5E04-46B0-A36D-1220840A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1930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EXP·레벨·보상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98DEA-EA16-4E7B-9575-76B31591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333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733E3-3F78-4BEC-8E30-2113E8F8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307CB-0768-42D5-BF62-0E348636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COLLECTION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1D2C5-3A5A-471E-85F5-609A27F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업적·칭호·도감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B1526-C9FD-474B-9F33-1836312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333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D7DB6-5A82-42E1-8E3A-B7869DA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A86A"/>
          </a:solidFill>
          <a:ln xmlns:a="http://schemas.openxmlformats.org/drawingml/2006/main" w="9525">
            <a:solidFill>
              <a:srgbClr val="8FA8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DB4CB-A87C-43B5-9973-7899047B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SOCIAL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7007F-7D79-4CCA-BBA4-9E5CB394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친구·그룹·랭킹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527D3-7E56-40D3-A61D-2BFA8CA0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3333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C708F-7392-48D7-BF8B-FAC46284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87B5"/>
          </a:solidFill>
          <a:ln xmlns:a="http://schemas.openxmlformats.org/drawingml/2006/main" w="9525">
            <a:solidFill>
              <a:srgbClr val="9C87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5229D-77E0-4FE1-BCC2-5A35B8A8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576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30374-7FF2-4168-9340-BF0D21ED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GPS 위치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4EDF2-E39E-4FF2-8B25-D105BF7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33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ED72E-5C78-4191-B6D9-F9BF6C62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7620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030"/>
          </a:solidFill>
          <a:ln xmlns:a="http://schemas.openxmlformats.org/drawingml/2006/main" w="9525">
            <a:solidFill>
              <a:srgbClr val="3F50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DF1C6-0819-467E-8BB6-825878D6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576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EF4A61-260C-497F-BEE4-AC24CBCB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장소·여행 추천</a:t>
            </a:r>
          </a:p>
        </p:txBody>
      </p:sp>
    </p:spTree>
    <p:extLst>
      <p:ext uri="{BB962C8B-B14F-4D97-AF65-F5344CB8AC3E}">
        <p14:creationId xmlns:p14="http://schemas.microsoft.com/office/powerpoint/2010/main" val="1899404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0C8BB-1B6F-4B82-9CEE-649D491F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2A9EE-23F9-419F-B2CF-0EC4A667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체크리스트를 새로운 경험의 성장 루프로 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B08C-0029-4D6D-904E-E7EF3BD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A8E76-85D1-44F7-B8B5-F8B46357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1DB6E-4B8F-4F80-AED6-E935CC2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DFBE7-5E3A-4EE0-B0D9-A2713A00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7060"/>
          </a:solidFill>
          <a:ln xmlns:a="http://schemas.openxmlformats.org/drawingml/2006/main" w="9525">
            <a:solidFill>
              <a:srgbClr val="7A70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E91C3-6D38-4AEC-9936-D8EECEDB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기존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17071-6004-4E93-89F5-D9BAAAD6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9337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할 일을 직접 등록하고 반복 체크합니다. 완료 이후의 성장감과 새로운 행동 발견이 약합니다.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BEC9E-23B4-45C1-9FE0-B1D74178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6A47"/>
                </a:solidFill>
              </a:defRPr>
            </a:pPr>
            <a:r>
              <a:rPr sz="285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938C5-C3E9-4776-BE85-A8A3C52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8291D-0E90-48DD-9F67-28E3B71F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D1374-D679-40B7-A5AB-7DF75AA5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526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LifeQuest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26EF5-7EA5-4CB8-8B73-42519C3A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14550"/>
            <a:ext cx="5791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새로운 장소·활동을 퀘스트로 제안하고, 완료 결과를 EXP·레벨·업적·도감으로 연결합니다.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BF323-68D8-4807-9C37-6E03CA3A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9DE6C-5DF7-4857-9FA5-A37ED88F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현실 행동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35B21-51F2-4968-BDBB-29D82940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816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54D5D-7914-4266-81C2-9F91A8DB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E3277-43B3-430C-B2F0-94AFA88A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81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퀘스트 완료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FB174-8BFF-4C16-9662-AC5A030D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4E8AF-CFAD-4E53-A8EA-056ADEC7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81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CE542-E353-4839-92F6-C0F2AA90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81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성장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8C24D-5813-4A93-91F3-02385BE1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0BE4D-E699-435A-8491-75D6DF28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81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EC1A2-CFB9-495E-9EF2-4832DF86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81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수집</a:t>
            </a:r>
          </a:p>
        </p:txBody>
      </p:sp>
    </p:spTree>
    <p:extLst>
      <p:ext uri="{BB962C8B-B14F-4D97-AF65-F5344CB8AC3E}">
        <p14:creationId xmlns:p14="http://schemas.microsoft.com/office/powerpoint/2010/main" val="1038377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2DDBC-136B-4AAF-B53D-54F4F1DD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8DC35-30BF-4DFB-8914-93360B18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프로젝트의 네 가지 개발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B37D5-C04E-400C-9AA3-D5F802DC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F2F64-34A5-4881-ACDD-27868D3A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B3306-FD26-4DE9-9014-794696D4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5D0E8-4FDB-4FC1-A537-4378C0CC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71438-BFCB-4531-8A99-BB816A3C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01  직관적 경험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95DBC-B4CE-4A15-80C9-BF091033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743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설명 없이도 도전→수행→보상을 이해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88CDB-062A-4CA3-95CD-4184EB85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6E4CF-07E5-4177-8774-87004DC2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38B51-D9F0-4068-8956-EE9DBBA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02  기능 간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C37C2-F25E-44E7-97AF-97040B1B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4743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완료 이벤트가 여러 성장 도메인에 반영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2A178-50F8-4869-9ACE-334C352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C2752-6680-49CA-A909-297A1747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C7BCE-3CD4-4371-8F01-93E204C1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03  실제 데이터 구조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FBEF2-4239-4C52-8BD0-FC49C1F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743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UI·API·DB가 같은 규칙으로 동작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C70D4-43AA-47AE-B980-4A1BC7AC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FD7F0-D6FF-4EF1-800B-2D386061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A86A"/>
          </a:solidFill>
          <a:ln xmlns:a="http://schemas.openxmlformats.org/drawingml/2006/main" w="9525">
            <a:solidFill>
              <a:srgbClr val="8FA8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9CE55-F063-4DFD-855A-A5C9A253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04  확장 가능한 도메인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969B6-31B4-4162-857B-53BA115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4743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추천·지역·소셜 기능을 독립 확장</a:t>
            </a:r>
          </a:p>
        </p:txBody>
      </p:sp>
    </p:spTree>
    <p:extLst>
      <p:ext uri="{BB962C8B-B14F-4D97-AF65-F5344CB8AC3E}">
        <p14:creationId xmlns:p14="http://schemas.microsoft.com/office/powerpoint/2010/main" val="2102333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3A1D36-430A-4DA0-9985-2E18A003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284D5-FABB-45DE-AF33-24FD309A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핵심 기능은 하나의 성장 경험을 분담한다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8C883-C318-4FD8-B1E5-6425F22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974F4-FF30-47DC-8CC4-4054857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1D7E3-4750-48CA-9D19-10ED3FB7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5AC4C-81BB-498C-803A-BE88685A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686B3-60CB-4962-84F7-679C6F9A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83074-5A72-4FC7-9D3B-1B886F9F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FEE6B-574E-4692-B1DD-983A58DA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EXP / LEVEL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FE80C-3A29-4834-8F08-8F89F671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1DAD9-5671-43AD-8706-ECDCC653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DFA7E-D82E-4B55-856D-BBA0D423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REWARD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2A049-1DA2-4D3D-800A-C76D423F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02030-65B5-434B-9DE0-B6606E51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09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CD728-9103-4877-A06F-57EBE70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ACHIEVEMENT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54BA0-5CBF-45C4-9CAB-B7ECE47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D60EC-FFCC-482A-96F4-66E1AE00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A0B11-A837-4F96-9B3F-1AD18F94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LIFEDEX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71482-79B4-4D3C-BAEE-D32075BF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3877E-9FA4-4520-8389-54C8E3DD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FRIEND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8A308-12F3-4EA1-BA39-9EBACDBD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575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48FBE-78D2-4CED-93BA-9FEEB330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29105-651D-400D-BADD-81325DA6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25F8B-FB35-4564-9F35-4DF10E6F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56099-2875-4A90-B03F-75A5D5C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15409-3B84-43BA-9ED3-3BEE3DEC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9EF40-CAD2-4E48-9F6B-BC4AC1B5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BBB56-0857-4794-A652-8988DF4C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752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9C702-B604-45FD-9825-6DE6512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NOTIFICATION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C9331-ACC1-4221-B03B-98FC01E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752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B87F5-7907-4295-AE92-FA16CEA2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AI RECOMMEND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20606-E9A2-41F1-8927-904B5206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05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10D7A-37EA-43BD-9CDD-2987AB18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052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134DEC-F16D-4C5E-930E-E0F9253C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GPS 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B0F40E-FDC8-46AB-B42D-69707DD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C3FBB-C4BE-4AAA-918F-6883E9D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92B7B-4153-41F0-A07C-7FC81A61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ADMIN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57ADAE-7955-4AE9-B5FA-C75D2D4F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5030"/>
                </a:solidFill>
              </a:defRPr>
            </a:pPr>
            <a:r>
              <a:rPr sz="1800" b="1">
                <a:solidFill>
                  <a:srgbClr val="3F5030"/>
                </a:solidFill>
              </a:rPr>
              <a:t>사용자 행동을 시작시키는 기능과, 완료 결과를 축적하는 기능을 하나의 서비스 흐름으로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438920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69AB4-CA2F-4F01-B642-3E728BC6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2A017-7178-496E-98CC-0F188C82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앱과 관리자 웹은 하나의 도메인 규칙을 공유한다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A5C4E-E1D2-41EC-98B0-D0D39DC0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E0345-2139-480A-BF77-6238FE0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F0C97-FFC0-42E0-A153-9AAAA0F5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6A47"/>
                </a:solidFill>
              </a:defRPr>
            </a:pPr>
            <a:r>
              <a:rPr sz="1200" b="1">
                <a:solidFill>
                  <a:srgbClr val="C96A47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9F50E-726D-4961-B2B1-8B13E72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57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FAA68-50E9-4188-9BE0-C9C425E4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C8311-E703-4420-8907-BE5A5197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Flutter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254BC-648B-42F5-AF8A-39275435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171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Riverpod · GoRouter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사용자 행동과 상태 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B4541-01D6-45AE-83E3-6033A63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571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76B69-27EC-4304-B02F-BC2EB902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F34CD-2021-498B-8726-675BE7F6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React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06E9F-192E-415E-8C0A-4134F803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운영 데이터와 카탈로그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F3D01-7A93-40C8-A802-A7F41ACB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6A47"/>
                </a:solidFill>
              </a:defRPr>
            </a:pPr>
            <a:r>
              <a:rPr sz="1500" b="1">
                <a:solidFill>
                  <a:srgbClr val="C96A47"/>
                </a:solidFill>
              </a:rPr>
              <a:t>→  REST / JSON  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07B04-0507-475C-B132-80D4AA0D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762250" cy="323850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E67A9-97AD-4E74-B952-ED243A2E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8EE5D-1BCF-4B1A-9538-86C31B7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Spring Boot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9440D-7143-4B71-A543-368648A4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23622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Controller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Spring Security / JWT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Domain Service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Repository / JPA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D0C58-A06C-49B4-B953-AEFD110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6A47"/>
                </a:solidFill>
              </a:defRPr>
            </a:pPr>
            <a:r>
              <a:rPr sz="21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F7315-7BC2-402F-995F-EA28976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2000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526D3-471E-4169-8A59-D4E057B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030"/>
          </a:solidFill>
          <a:ln xmlns:a="http://schemas.openxmlformats.org/drawingml/2006/main" w="9525">
            <a:solidFill>
              <a:srgbClr val="3F5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4FFF5-E43B-4FEE-9731-17CAD33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05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CF0B7-AEAB-49BF-9244-B44A1C7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0"/>
            <a:ext cx="1600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Flyway migration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관계형 도메인 데이터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424AF-6635-428E-9A56-B2D78B93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F5030"/>
                </a:solidFill>
              </a:defRPr>
            </a:pPr>
            <a:r>
              <a:rPr sz="1575" b="1">
                <a:solidFill>
                  <a:srgbClr val="3F5030"/>
                </a:solidFill>
              </a:rPr>
              <a:t>요청 흐름  |  Flutter → REST API → Security → Service → JPA → MySQL → DTO → 화면 상태</a:t>
            </a:r>
          </a:p>
        </p:txBody>
      </p:sp>
    </p:spTree>
    <p:extLst>
      <p:ext uri="{BB962C8B-B14F-4D97-AF65-F5344CB8AC3E}">
        <p14:creationId xmlns:p14="http://schemas.microsoft.com/office/powerpoint/2010/main" val="1576242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71A54A-2E8C-4091-946C-521EB5E1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85EDC-B402-42ED-8EF1-7468BE67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사용자를 중심으로 퀘스트·성장·소셜 데이터가 연결된다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113AB-56DC-4922-8749-F77389E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0DE5A-9495-4BC9-AF27-4C12C4D0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F5B7F-8396-41AE-B528-77DF7E44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857FD-F62D-42CD-9FF7-B51863B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E2296-6513-43BC-8BB2-464018A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507B6-271D-45FB-8B7A-6DF0BF9E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User · Character · SocialAccount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49EFD-0CC1-4CE9-8BFD-54E04B77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D80BB-12E8-4621-A109-1E62F987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A92A2-7880-4366-8451-3669F73A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D12CB-EC94-43E4-8A5F-4259BB8E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19300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Quest · UserQuest · QuestProof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70026-581F-45A5-BDDA-B192C2F8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D111B-3987-4D49-93F9-9DBC69D1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31274-6DA7-45B3-813E-091AAEF1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GROWTH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04A40-8A3A-4429-905C-DD3A1EB1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ExpLog · LevelReward · RewardGrant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02449-C0CF-4B43-BCB4-1F7BA566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AE803-A8F9-4C94-A1EA-8830FB91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A86A"/>
          </a:solidFill>
          <a:ln xmlns:a="http://schemas.openxmlformats.org/drawingml/2006/main" w="9525">
            <a:solidFill>
              <a:srgbClr val="8FA8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48ECC-6A5F-4AD1-85B7-E7C58B60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COLLECTION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CCCA3-4DBF-4B2E-8301-3A2E2F3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Achievement · Title · Lifedex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E0067-53AE-4367-9BE3-BA625FA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ABED1-2636-4F3A-A5DD-F4C1E679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87B5"/>
          </a:solidFill>
          <a:ln xmlns:a="http://schemas.openxmlformats.org/drawingml/2006/main" w="9525">
            <a:solidFill>
              <a:srgbClr val="9C87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FFEBC-F2FC-41EA-A2E9-8C3DBEF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99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SOCIAL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B9E55-996A-44EA-B667-D5A8C64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71925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Friendship · Group · GroupQuest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4E65F-F879-4CCB-AA22-881D4095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E2AB2-8F44-4C59-BE3D-EBF6F77A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030"/>
          </a:solidFill>
          <a:ln xmlns:a="http://schemas.openxmlformats.org/drawingml/2006/main" w="9525">
            <a:solidFill>
              <a:srgbClr val="3F50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8F67F-97C3-4A08-9454-116AB43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99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8C763-236A-4713-BD38-E0A66B76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71925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Notification · Region · Location</a:t>
            </a:r>
          </a:p>
        </p:txBody>
      </p:sp>
    </p:spTree>
    <p:extLst>
      <p:ext uri="{BB962C8B-B14F-4D97-AF65-F5344CB8AC3E}">
        <p14:creationId xmlns:p14="http://schemas.microsoft.com/office/powerpoint/2010/main" val="1999719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415E3-10C9-4F75-B139-FF6E0E23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USER JOURNEY ·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AB004-DA6D-4594-A806-22452A05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홈은 오늘의 퀘스트와 성장 상태를 한 화면에 모은다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1AA94-0816-441C-848D-B1150DDA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E2801-0DB0-4AF0-B685-2CEAFA64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F3199-05F1-4751-9F3C-8066649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2325944" cy="4953000"/>
          </a:xfrm>
          <a:prstGeom xmlns:a="http://schemas.openxmlformats.org/drawingml/2006/main" prst="roundRect">
            <a:avLst>
              <a:gd name="adj" fmla="val 4914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BC35C-29A6-4BE1-9079-BB774FDE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43025"/>
            <a:ext cx="2211644" cy="4838700"/>
          </a:xfrm>
          <a:prstGeom xmlns:a="http://schemas.openxmlformats.org/drawingml/2006/main" prst="roundRect">
            <a:avLst>
              <a:gd name="adj" fmla="val 516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9e64cddaf40e1"/>
          <a:srcRect xmlns:a="http://schemas.openxmlformats.org/drawingml/2006/main" l="120" t="0" r="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381125"/>
            <a:ext cx="2135444" cy="4762500"/>
          </a:xfrm>
          <a:prstGeom xmlns:a="http://schemas.openxmlformats.org/drawingml/2006/main" prst="roundRect">
            <a:avLst>
              <a:gd name="adj" fmla="val 5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5B020-04CA-43AB-9DEB-1D250EF3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화면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95FD6-A64C-46C3-9455-2678A809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335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접속 직후 현재 레벨과 오늘의 행동 확인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퀘스트 상세·알림·하단 메뉴로 빠르게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93668-C996-4AE2-AEB1-D942863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데이터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51957-301F-4ED8-BA3C-F0CBC115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62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홈 조회 API가 사용자 성장과 할당 퀘스트를 반환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Riverpod 상태 갱신 후 EXP·퀘스트 목록을 동시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198BE-974B-409C-9050-1AE24823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533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08B83-5EBA-4DEC-BDC4-91768013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6"/>
                </a:solidFill>
              </a:defRPr>
            </a:pPr>
            <a:r>
              <a:rPr sz="1050" b="1">
                <a:solidFill>
                  <a:srgbClr val="FFFDF6"/>
                </a:solidFill>
              </a:rPr>
              <a:t>행동 → API 요청 → 상태 저장 → UI 반영</a:t>
            </a:r>
          </a:p>
        </p:txBody>
      </p:sp>
    </p:spTree>
    <p:extLst>
      <p:ext uri="{BB962C8B-B14F-4D97-AF65-F5344CB8AC3E}">
        <p14:creationId xmlns:p14="http://schemas.microsoft.com/office/powerpoint/2010/main" val="85150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873CE-8E7B-4F9C-87AE-889421B9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USER JOURNEY · DISCOVER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82967-2923-47C6-AD6E-B3CFC6D7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퀘스트 탐색과 AI 추천을 한 여정으로 통합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23F90-63C7-476E-9607-C3015EA8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6EC6C-1BCD-49E1-9D31-A25AE3D3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0B10D-B8F1-497B-A39C-F18BFBE2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2026981" cy="4286250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0BA73-A96F-440E-AAA1-DD3DA426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81150"/>
            <a:ext cx="1912681" cy="4171950"/>
          </a:xfrm>
          <a:prstGeom xmlns:a="http://schemas.openxmlformats.org/drawingml/2006/main" prst="roundRect">
            <a:avLst>
              <a:gd name="adj" fmla="val 597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8e0399ada4504"/>
          <a:srcRect xmlns:a="http://schemas.openxmlformats.org/drawingml/2006/main" l="239" t="0" r="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619250"/>
            <a:ext cx="1836481" cy="4095750"/>
          </a:xfrm>
          <a:prstGeom xmlns:a="http://schemas.openxmlformats.org/drawingml/2006/main" prst="roundRect">
            <a:avLst>
              <a:gd name="adj" fmla="val 622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6490C-BE62-4B12-807D-EA524D0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026981" cy="4286250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AC239-4281-481E-B880-0C51CA82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81150"/>
            <a:ext cx="1912681" cy="4171950"/>
          </a:xfrm>
          <a:prstGeom xmlns:a="http://schemas.openxmlformats.org/drawingml/2006/main" prst="roundRect">
            <a:avLst>
              <a:gd name="adj" fmla="val 597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3b0a278b948af"/>
          <a:srcRect xmlns:a="http://schemas.openxmlformats.org/drawingml/2006/main" l="357" t="0" r="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619250"/>
            <a:ext cx="1836481" cy="4095750"/>
          </a:xfrm>
          <a:prstGeom xmlns:a="http://schemas.openxmlformats.org/drawingml/2006/main" prst="roundRect">
            <a:avLst>
              <a:gd name="adj" fmla="val 622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D868E-492B-46E8-ADCD-99EB5FA1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026981" cy="4286250"/>
          </a:xfrm>
          <a:prstGeom xmlns:a="http://schemas.openxmlformats.org/drawingml/2006/main" prst="roundRect">
            <a:avLst>
              <a:gd name="adj" fmla="val 5639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9979D-C3EA-4ADA-910D-5FBEED6C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81150"/>
            <a:ext cx="1912681" cy="4171950"/>
          </a:xfrm>
          <a:prstGeom xmlns:a="http://schemas.openxmlformats.org/drawingml/2006/main" prst="roundRect">
            <a:avLst>
              <a:gd name="adj" fmla="val 597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3187faa3c4718"/>
          <a:srcRect xmlns:a="http://schemas.openxmlformats.org/drawingml/2006/main" l="239" t="0" r="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619250"/>
            <a:ext cx="1836481" cy="4095750"/>
          </a:xfrm>
          <a:prstGeom xmlns:a="http://schemas.openxmlformats.org/drawingml/2006/main" prst="roundRect">
            <a:avLst>
              <a:gd name="adj" fmla="val 6224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8FD13-91C4-49F0-89DE-230C3D84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통합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24CE0-727D-47E4-8213-95F74C1A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240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일간·주간 목록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AI 장소/여행 추천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선택 후 상세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F4F8A-E5E7-475B-A0FE-EEF074F6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F5030"/>
                </a:solidFill>
              </a:defRPr>
            </a:pPr>
            <a:r>
              <a:rPr sz="1500" b="1">
                <a:solidFill>
                  <a:srgbClr val="3F5030"/>
                </a:solidFill>
              </a:rPr>
              <a:t>Quest API</a:t>
            </a:r>
          </a:p>
          <a:p xmlns:a="http://schemas.openxmlformats.org/drawingml/2006/main">
            <a:pPr algn="ctr">
              <a:defRPr sz="1500" b="1">
                <a:solidFill>
                  <a:srgbClr val="3F5030"/>
                </a:solidFill>
              </a:defRPr>
            </a:pPr>
            <a:r>
              <a:rPr sz="1500" b="1">
                <a:solidFill>
                  <a:srgbClr val="3F5030"/>
                </a:solidFill>
              </a:rPr>
              <a:t>+ Recommendation API</a:t>
            </a:r>
          </a:p>
          <a:p xmlns:a="http://schemas.openxmlformats.org/drawingml/2006/main">
            <a:pPr algn="ctr">
              <a:defRPr sz="1500" b="1">
                <a:solidFill>
                  <a:srgbClr val="3F5030"/>
                </a:solidFill>
              </a:defRPr>
            </a:pPr>
            <a:r>
              <a:rPr sz="1500" b="1">
                <a:solidFill>
                  <a:srgbClr val="3F5030"/>
                </a:solidFill>
              </a:rPr>
              <a:t>+ UserQuest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C0D05-3A7E-4C05-9161-F3640CC7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22B2A-D134-4DDA-A5FC-15A20066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6"/>
                </a:solidFill>
              </a:defRPr>
            </a:pPr>
            <a:r>
              <a:rPr sz="1050" b="1">
                <a:solidFill>
                  <a:srgbClr val="FFFDF6"/>
                </a:solidFill>
              </a:rPr>
              <a:t>발견 → 선택 → 등록</a:t>
            </a:r>
          </a:p>
        </p:txBody>
      </p:sp>
    </p:spTree>
    <p:extLst>
      <p:ext uri="{BB962C8B-B14F-4D97-AF65-F5344CB8AC3E}">
        <p14:creationId xmlns:p14="http://schemas.microsoft.com/office/powerpoint/2010/main" val="1396523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1DA6C-3230-4CD8-A971-F6DDD63F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USER JOURNEY · COMPLETE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7B88-9FFA-4504-9BA9-B87C39F0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완료 이벤트가 보상과 레벨업을 연쇄 처리한다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29F20-D328-4619-BEF6-CCE3ADEE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51195-A92C-4DD5-AE93-A008E2E5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D62AA-74FB-4FEC-92B9-19C75F7C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219171" cy="4714875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46AE3-5A6E-4848-BC7E-EA5DBABC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38275"/>
            <a:ext cx="2104871" cy="4600575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edad6ebe247df"/>
          <a:srcRect xmlns:a="http://schemas.openxmlformats.org/drawingml/2006/main" l="357" t="0" r="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1476375"/>
            <a:ext cx="2028671" cy="4524375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596DC-0C85-4C6F-9C2C-0E9C913D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2219171" cy="4714875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1247A-33E2-4151-8326-BB49A034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38275"/>
            <a:ext cx="2104871" cy="4600575"/>
          </a:xfrm>
          <a:prstGeom xmlns:a="http://schemas.openxmlformats.org/drawingml/2006/main" prst="roundRect">
            <a:avLst>
              <a:gd name="adj" fmla="val 543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19a3b88404855"/>
          <a:srcRect xmlns:a="http://schemas.openxmlformats.org/drawingml/2006/main" l="120" t="0" r="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476375"/>
            <a:ext cx="2028671" cy="4524375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BD95D-0DB8-42FB-A0D0-1337924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처리 순서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D5C90-750C-41BE-8D63-6C06645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완료 조건 검증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UserQuest 상태 변경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EXP 기록 및 레벨 계산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보상·업적·도감 평가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최종 결과 DTO 반환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5C96E-EECE-4F7B-8823-5B9FB8D0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8C6A0-2FC6-47A8-BEC5-BA27FA4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6"/>
                </a:solidFill>
              </a:defRPr>
            </a:pPr>
            <a:r>
              <a:rPr sz="1050" b="1">
                <a:solidFill>
                  <a:srgbClr val="FFFDF6"/>
                </a:solidFill>
              </a:rPr>
              <a:t>단일 트랜잭션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72C69-BABB-4143-90F1-8E8ED446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38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5030"/>
                </a:solidFill>
              </a:defRPr>
            </a:pPr>
            <a:r>
              <a:rPr sz="1500" b="1">
                <a:solidFill>
                  <a:srgbClr val="3F5030"/>
                </a:solidFill>
              </a:rPr>
              <a:t>중복 요청에도 보상은 한 번만 지급</a:t>
            </a:r>
          </a:p>
        </p:txBody>
      </p:sp>
    </p:spTree>
    <p:extLst>
      <p:ext uri="{BB962C8B-B14F-4D97-AF65-F5344CB8AC3E}">
        <p14:creationId xmlns:p14="http://schemas.microsoft.com/office/powerpoint/2010/main" val="147541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184DC-7107-47A1-B335-720DE618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USER JOURNEY ·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0DCA8-DB3F-42E5-83E8-3D5E5830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업적·도감·캐릭터가 성장의 결과를 시각화한다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B4F61-2FA7-4EBF-82A6-D59F522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AD102-A485-45AC-9AB7-200253A3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05EBA-3715-4D5F-98FF-D93DFB10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71625"/>
            <a:ext cx="1984273" cy="4191000"/>
          </a:xfrm>
          <a:prstGeom xmlns:a="http://schemas.openxmlformats.org/drawingml/2006/main" prst="roundRect">
            <a:avLst>
              <a:gd name="adj" fmla="val 5760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62A72-0A89-465D-B2F9-D57C56F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1869973" cy="4076700"/>
          </a:xfrm>
          <a:prstGeom xmlns:a="http://schemas.openxmlformats.org/drawingml/2006/main" prst="roundRect">
            <a:avLst>
              <a:gd name="adj" fmla="val 611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58d851c1941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66875"/>
            <a:ext cx="1793773" cy="4000500"/>
          </a:xfrm>
          <a:prstGeom xmlns:a="http://schemas.openxmlformats.org/drawingml/2006/main" prst="roundRect">
            <a:avLst>
              <a:gd name="adj" fmla="val 637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D6375-D9B0-489C-A7CF-60B75C1C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1984273" cy="4191000"/>
          </a:xfrm>
          <a:prstGeom xmlns:a="http://schemas.openxmlformats.org/drawingml/2006/main" prst="roundRect">
            <a:avLst>
              <a:gd name="adj" fmla="val 5760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E8AE3-A0B7-4927-8574-F70514B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28775"/>
            <a:ext cx="1869973" cy="4076700"/>
          </a:xfrm>
          <a:prstGeom xmlns:a="http://schemas.openxmlformats.org/drawingml/2006/main" prst="roundRect">
            <a:avLst>
              <a:gd name="adj" fmla="val 611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63727f55340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1666875"/>
            <a:ext cx="1793773" cy="4000500"/>
          </a:xfrm>
          <a:prstGeom xmlns:a="http://schemas.openxmlformats.org/drawingml/2006/main" prst="roundRect">
            <a:avLst>
              <a:gd name="adj" fmla="val 637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B137A-655C-47B2-8F60-D6E56FB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1984273" cy="4191000"/>
          </a:xfrm>
          <a:prstGeom xmlns:a="http://schemas.openxmlformats.org/drawingml/2006/main" prst="roundRect">
            <a:avLst>
              <a:gd name="adj" fmla="val 5760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80AFA-87EA-4853-9361-F2450879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28775"/>
            <a:ext cx="1869973" cy="4076700"/>
          </a:xfrm>
          <a:prstGeom xmlns:a="http://schemas.openxmlformats.org/drawingml/2006/main" prst="roundRect">
            <a:avLst>
              <a:gd name="adj" fmla="val 611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aa74ffe7942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666875"/>
            <a:ext cx="1793773" cy="4000500"/>
          </a:xfrm>
          <a:prstGeom xmlns:a="http://schemas.openxmlformats.org/drawingml/2006/main" prst="roundRect">
            <a:avLst>
              <a:gd name="adj" fmla="val 637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3C4D3-DDE4-41B7-BBF3-E1538E53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연결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88245-9665-4B8D-9967-DD037653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61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Achievement 진행률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UserLifedex 수집률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Character / Accessory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대표 칭호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08878-9225-4505-AF8B-91BCFA85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퀘스트 완료 결과가</a:t>
            </a:r>
          </a:p>
          <a:p xmlns:a="http://schemas.openxmlformats.org/drawingml/2006/main">
            <a:pPr algn="ctr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“숫자”에서</a:t>
            </a:r>
          </a:p>
          <a:p xmlns:a="http://schemas.openxmlformats.org/drawingml/2006/main">
            <a:pPr algn="ctr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“소유한 경험”으로 바뀝니다.</a:t>
            </a:r>
          </a:p>
        </p:txBody>
      </p:sp>
    </p:spTree>
    <p:extLst>
      <p:ext uri="{BB962C8B-B14F-4D97-AF65-F5344CB8AC3E}">
        <p14:creationId xmlns:p14="http://schemas.microsoft.com/office/powerpoint/2010/main" val="507756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80476-E240-4C0F-AFAE-C59511B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USER JOURNEY · SOCIAL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C7C8F-E190-4FEE-A2F5-9EBF98A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친구와 그룹은 개인 퀘스트를 공동 경험으로 확장한다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F529F-6A05-4F8F-8C5E-6C8F1598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E8E99-B1C7-4726-9C43-F6C1E064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41F59-7FA6-4F08-8206-432A6D56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197817" cy="4667250"/>
          </a:xfrm>
          <a:prstGeom xmlns:a="http://schemas.openxmlformats.org/drawingml/2006/main" prst="roundRect">
            <a:avLst>
              <a:gd name="adj" fmla="val 5201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89553-0522-4B0B-837F-D1A6888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2083517" cy="4552950"/>
          </a:xfrm>
          <a:prstGeom xmlns:a="http://schemas.openxmlformats.org/drawingml/2006/main" prst="roundRect">
            <a:avLst>
              <a:gd name="adj" fmla="val 548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c149880be4b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571625"/>
            <a:ext cx="2007317" cy="4476750"/>
          </a:xfrm>
          <a:prstGeom xmlns:a="http://schemas.openxmlformats.org/drawingml/2006/main" prst="roundRect">
            <a:avLst>
              <a:gd name="adj" fmla="val 569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72175-FBC9-4078-9BB6-691B3070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76375"/>
            <a:ext cx="2197817" cy="4667250"/>
          </a:xfrm>
          <a:prstGeom xmlns:a="http://schemas.openxmlformats.org/drawingml/2006/main" prst="roundRect">
            <a:avLst>
              <a:gd name="adj" fmla="val 5201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6A74E-F05A-4C26-8F1B-57DC1813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33525"/>
            <a:ext cx="2083517" cy="4552950"/>
          </a:xfrm>
          <a:prstGeom xmlns:a="http://schemas.openxmlformats.org/drawingml/2006/main" prst="roundRect">
            <a:avLst>
              <a:gd name="adj" fmla="val 548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c37b44d0f464d"/>
          <a:srcRect xmlns:a="http://schemas.openxmlformats.org/drawingml/2006/main" l="0" t="120" r="0" b="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8125" y="1571625"/>
            <a:ext cx="2007317" cy="4476750"/>
          </a:xfrm>
          <a:prstGeom xmlns:a="http://schemas.openxmlformats.org/drawingml/2006/main" prst="roundRect">
            <a:avLst>
              <a:gd name="adj" fmla="val 56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86AFD-68E3-44AD-B4F5-5747DA26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주요 기능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D780B-A9A8-4C8A-A9E9-143632B6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친구 요청·EXP 랭킹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그룹 퀘스트 참여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진행 상태와 공동 보상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소유권·멤버 권한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D2481-5C14-4E7C-83B8-A2F9AF83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63321-B904-443B-B92F-AC709E4A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친구 발견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DF579-87E9-44F1-BE8F-F2EDBBC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4187F-C290-4012-8FDD-42D24727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00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80D76-F10D-4059-8DE2-0CE17E1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00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그룹 참여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1B558-B747-4F99-B43E-BFE464F0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006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9C4F3-27FC-4034-BC7F-CA65D80A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00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8D56A-4E44-4CE6-8AB3-36007A0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00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공동 완료</a:t>
            </a:r>
          </a:p>
        </p:txBody>
      </p:sp>
    </p:spTree>
    <p:extLst>
      <p:ext uri="{BB962C8B-B14F-4D97-AF65-F5344CB8AC3E}">
        <p14:creationId xmlns:p14="http://schemas.microsoft.com/office/powerpoint/2010/main" val="17797214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534FE-9FE4-41DF-A960-8441DBB8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USER JOURNEY ·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C4542-20EA-4446-8A64-1430FAF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마이페이지는 성장 기록과 개인 설정의 허브다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ACF53-D828-4172-B432-4BEC26E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D1208-39D1-4B75-A39F-18A1FEF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F358-CF5A-4123-97BF-E41936AC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2325944" cy="4953000"/>
          </a:xfrm>
          <a:prstGeom xmlns:a="http://schemas.openxmlformats.org/drawingml/2006/main" prst="roundRect">
            <a:avLst>
              <a:gd name="adj" fmla="val 4914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E1CA1-6D3A-4097-866A-29EAFF3C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90650"/>
            <a:ext cx="2211644" cy="4838700"/>
          </a:xfrm>
          <a:prstGeom xmlns:a="http://schemas.openxmlformats.org/drawingml/2006/main" prst="roundRect">
            <a:avLst>
              <a:gd name="adj" fmla="val 516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FFFDF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e218544d344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1428750"/>
            <a:ext cx="2135444" cy="4762500"/>
          </a:xfrm>
          <a:prstGeom xmlns:a="http://schemas.openxmlformats.org/drawingml/2006/main" prst="roundRect">
            <a:avLst>
              <a:gd name="adj" fmla="val 53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CBCF3-25D4-4699-8BD1-86EC042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표현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DB519-7A06-4E50-935A-542B7551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335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캐릭터·액세서리·대표 칭호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레벨·EXP·완료 퀘스트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업적·도감·친구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28230-2201-4971-BD27-555B5F74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갱신 원칙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43FB0-37BE-4D8F-AD9C-B9897C07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프로필 PATCH 후 사용자 상태 캐시 무효화</a:t>
            </a:r>
          </a:p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• 친구·그룹·랭킹 화면에 동일 정보 재반영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C34C3-BED8-4D09-809B-A7870F24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4000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80877-431F-48DD-8B1F-CBA6EA4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6"/>
                </a:solidFill>
              </a:defRPr>
            </a:pPr>
            <a:r>
              <a:rPr sz="1050" b="1">
                <a:solidFill>
                  <a:srgbClr val="FFFDF6"/>
                </a:solidFill>
              </a:rPr>
              <a:t>Single Source of Profile State</a:t>
            </a:r>
          </a:p>
        </p:txBody>
      </p:sp>
    </p:spTree>
    <p:extLst>
      <p:ext uri="{BB962C8B-B14F-4D97-AF65-F5344CB8AC3E}">
        <p14:creationId xmlns:p14="http://schemas.microsoft.com/office/powerpoint/2010/main" val="2118425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E8DBE-BDBE-43BA-B8FC-5D68A5A2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ADMIN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78FA5-332E-4891-ADF5-CFF17560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관리자 웹은 운영 현황과 콘텐츠 변경을 담당한다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BE9C9-5354-464E-8A42-399FED6B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CDC9A-8C16-443F-A5F5-06AE697B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CBBC6-866E-4A7F-939E-C38B93A0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443B2A"/>
          </a:solidFill>
          <a:ln xmlns:a="http://schemas.openxmlformats.org/drawingml/2006/main" w="9525">
            <a:solidFill>
              <a:srgbClr val="443B2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1461d74524fce"/>
          <a:srcRect xmlns:a="http://schemas.openxmlformats.org/drawingml/2006/main" l="0" t="15538" r="0" b="15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552575"/>
            <a:ext cx="10706100" cy="3609975"/>
          </a:xfrm>
          <a:prstGeom xmlns:a="http://schemas.openxmlformats.org/drawingml/2006/main" prst="roundRect">
            <a:avLst>
              <a:gd name="adj" fmla="val 316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8EC80-C6E9-4B9B-9878-D336B77E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F5030"/>
                </a:solidFill>
              </a:defRPr>
            </a:pPr>
            <a:r>
              <a:rPr sz="1650" b="1">
                <a:solidFill>
                  <a:srgbClr val="3F5030"/>
                </a:solidFill>
              </a:rPr>
              <a:t>Admin Web → REST API → Admin Service → Database → User App 재조회</a:t>
            </a:r>
          </a:p>
        </p:txBody>
      </p:sp>
    </p:spTree>
    <p:extLst>
      <p:ext uri="{BB962C8B-B14F-4D97-AF65-F5344CB8AC3E}">
        <p14:creationId xmlns:p14="http://schemas.microsoft.com/office/powerpoint/2010/main" val="1868321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7464BF-8F4E-42BB-A469-77A2A6AE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BDD34-1A97-4C43-8C0F-5652815F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화면과 서버는 역할을 분리해 변경 영향을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036E7-C1FF-49DA-B412-8BF640B2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966BE-0C3B-4B0A-8163-39AC920B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A5195-3975-4F82-A168-B50E6769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77551-AD25-4D70-B8BF-D21C0FDA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B6AE-578A-41BB-B2E7-D9F4697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83E7A-CDE5-45F8-9211-8D7A616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화면과 사용자 이벤트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F2736-5B10-4580-B3C2-9FD72250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483D4-5BDD-4690-82AF-9487AC42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E6505-9F4F-4B09-A3B0-A74FEDF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Application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45AC4-F677-4910-B530-05025B5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19300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Riverpod provider / 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06F18-DCAA-4E06-B175-B8561EC2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46E9A-4767-4408-BC44-8A3B860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4138B-F930-4A3B-92BA-CAB8022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API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BF1A1-8263-4018-B2F5-ED48093D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DTO 직렬화·토큰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0FD86-C047-47C1-B55B-E1A2301D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90DE6-0267-48F6-BF0A-10E1E370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A86A"/>
          </a:solidFill>
          <a:ln xmlns:a="http://schemas.openxmlformats.org/drawingml/2006/main" w="9525">
            <a:solidFill>
              <a:srgbClr val="8FA8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DF7FE-CE1A-4AD4-BA7C-589E65E9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883C0-8A0C-4841-93AA-DAF9A26F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요청 검증·응답 경계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7DCEB-F017-4486-84D6-324725E7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18D3D-2CF5-41A4-9582-0C40DFC9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87B5"/>
          </a:solidFill>
          <a:ln xmlns:a="http://schemas.openxmlformats.org/drawingml/2006/main" w="9525">
            <a:solidFill>
              <a:srgbClr val="9C87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52B55-4186-467C-8938-D0123F9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99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Domain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F41BB-7980-406C-B337-C5CFBB51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71925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완료·성장·권한 규칙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F89F2-1E05-4605-BDEA-CA83997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01FCB-F401-4151-99BB-CB1F8943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5030"/>
          </a:solidFill>
          <a:ln xmlns:a="http://schemas.openxmlformats.org/drawingml/2006/main" w="9525">
            <a:solidFill>
              <a:srgbClr val="3F50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09F39-3BD4-454A-9D04-C148BAE4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99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Repository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212FF-04EA-4EBE-82EE-E2B9C0BC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71925"/>
            <a:ext cx="2933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JPA 영속성</a:t>
            </a:r>
          </a:p>
        </p:txBody>
      </p:sp>
    </p:spTree>
    <p:extLst>
      <p:ext uri="{BB962C8B-B14F-4D97-AF65-F5344CB8AC3E}">
        <p14:creationId xmlns:p14="http://schemas.microsoft.com/office/powerpoint/2010/main" val="14240453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4F9DBA-6BB2-4382-9AF5-CF3C0181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5FAB1-D4AC-44C6-9826-153CA701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퀘스트 완료는 처리 순서와 트랜잭션이 핵심이다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2FD8F-D4A5-4134-AE33-9B9DF2CF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C10B5-53DA-443D-8476-0E9581FD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BA19B-8CE1-491E-8299-149D7CAF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D7191-4026-4F72-A784-255C71C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사용자·퀘스트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1C074-5181-43C8-8324-A1C61546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14F4D-A839-4FDE-B024-A1B8D14F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9B85B-50F3-4849-88A8-A96619D7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조건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F6FE0-D209-431B-996D-925538C5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1C78C-6905-44ED-895A-69B0AABE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752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CDF2F-B526-4998-B0E4-C036C74E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097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UserQuest 완료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34E09-0AAA-4CE0-A676-ECB035A2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CCB97-D72A-47F1-8CF9-BB7774EE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025C6-C4E5-459E-9DA7-B55A54F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EXP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03C6F-F797-44A7-89E8-C84FD07D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A1C78-099B-4784-B13E-2F57739F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레벨 계산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2C696-E8EC-4E0D-AE46-5192C510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509E2-BA63-49B7-97AC-9B4689A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CEBFC-C182-4CC4-A99E-2E6DF2B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보상 지급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652F1-79D1-4C2E-B37B-0867122A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1CEBA-BAC4-421B-964E-BB01BBF3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61522-ECC2-457D-A2AA-01BC4FF8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52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업적 평가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51439-2F24-4BAA-8B4D-EF942E0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F4FA9-2033-409D-A8C3-4E2572F5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DA83B-6EA0-4D8D-91CE-1221680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도감 갱신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DA695-941D-4843-A27F-FDC4FB60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7A4E9-739B-4EB2-B452-AE8CE4A5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GrowthResult 조합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9119C-465C-4763-939C-37EEE833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CD350-2618-4F02-89FC-9668B14C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B68E2C-8AF0-4321-B9EE-E629E429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DTO 반환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75BC7-1939-4753-A579-774D8AFF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ED0DD3-DF1D-497A-83AD-B085C03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3600C-38B7-4BE5-B355-9C7A2EC2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Provider 갱신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CC95D-5C64-4357-8D55-EEAC8DAD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B3966B-5700-41BB-A1A5-D7290BB9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8900FE-F756-4A64-A214-9E450842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결과 화면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A3926B-AA6E-46FB-BBC7-81A2642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F5030"/>
                </a:solidFill>
              </a:defRPr>
            </a:pPr>
            <a:r>
              <a:rPr sz="1875" b="1">
                <a:solidFill>
                  <a:srgbClr val="3F5030"/>
                </a:solidFill>
              </a:rPr>
              <a:t>부분 성공을 허용하지 않는 하나의 완료 단위</a:t>
            </a:r>
          </a:p>
        </p:txBody>
      </p:sp>
    </p:spTree>
    <p:extLst>
      <p:ext uri="{BB962C8B-B14F-4D97-AF65-F5344CB8AC3E}">
        <p14:creationId xmlns:p14="http://schemas.microsoft.com/office/powerpoint/2010/main" val="5024156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4BAE0-7558-40AF-825B-DA0182F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2EA2A-E155-4EEC-9444-7DAFF50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JWT와 역할 기반 인가가 데이터 접근 경계를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80A65-06D9-4443-8D9A-5305ABAD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1E066-4FB7-4AB0-BD7C-128DFF73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CA9C7-5982-4D8E-BDE2-2272383C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65402-B92A-4BEA-BDDD-13700CDE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DA4A2-5C38-411C-A978-0F41D5A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8CA66-D7DE-468B-9E4E-0E6A90F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3967C-88E1-4C56-A1EF-E011DC2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자격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4A482-4B9D-47B9-B61E-4F17CF2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195D3-DC28-4852-BC0A-F22639F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84A36-EC44-442C-B51D-BC980DC9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09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JWT 발급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481B3-854F-4DF7-B54F-980B5FB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DB90C-DAB7-4225-800C-55E5C626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295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EFF68-868E-450E-8FFD-7069B2C0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Token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CE5AF-F9C0-4560-A412-A2426F86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88375-471A-4727-B2B7-DCC3EDF1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API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B9A7C-EDB8-40C8-954B-01AEC89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02B61-7987-427B-A52F-43393639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E02EC-0F03-4751-95C2-00910680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Security 인증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62365-6760-422C-A915-9F32BAD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60C08-D1A1-45BA-8E0D-E36EAB1D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5D63D8-A6E5-4186-9B92-BDE75FEE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사용자 식별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EEEC4-AADD-4BD5-8404-DAD2F685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A834DD-762B-42D2-BF8F-52FE91FA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52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9863A-10CE-48F0-A958-B6AFBAB4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소유권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416AD-565A-459C-A7D0-F7A5A58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752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CD907-CB85-48DA-9ABF-C60C7D78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USER /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5C740F-BF75-4087-BDE4-C4C4B5E2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51CBB-B1AD-4E30-BDBF-A869F71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C13E1-A973-4B08-AE24-4EDF3947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도메인 접근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A505B-1DAB-4960-BC41-A1750733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95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F8CB6-DDF7-4B0B-A3FA-84A03F6B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957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E18B7C-8C81-4306-8FEA-DA89C67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응답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FA4B2-C344-42B1-B8B3-CE8B492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5030"/>
                </a:solidFill>
              </a:defRPr>
            </a:pPr>
            <a:r>
              <a:rPr sz="1800" b="1">
                <a:solidFill>
                  <a:srgbClr val="3F5030"/>
                </a:solidFill>
              </a:rPr>
              <a:t>클라이언트가 보낸 userId보다 인증 컨텍스트를 신뢰합니다.</a:t>
            </a:r>
          </a:p>
        </p:txBody>
      </p:sp>
    </p:spTree>
    <p:extLst>
      <p:ext uri="{BB962C8B-B14F-4D97-AF65-F5344CB8AC3E}">
        <p14:creationId xmlns:p14="http://schemas.microsoft.com/office/powerpoint/2010/main" val="19123530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1BE04-92BA-47C5-BA82-347C1E47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32A33-2B93-4DC2-A91A-EEE20B9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위치 인증은 클라이언트 권한과 서버 검증을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259A3-A0F9-4022-A128-BEEFA0EA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36343-30ED-41AC-A160-32C27346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CFB07-BBAB-4F76-A710-E198671B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295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F6AD5-03AC-4440-96C3-1523B3C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위치 권한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4FC83-477B-453D-8ED7-A1F1046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526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1AF24-4ACD-4F77-A500-592ACFBA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526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51B0D-9221-4BAB-807F-3CA7A21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526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좌표 취득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81309-29CE-4259-A4F5-3F15390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35730-1003-4737-91CC-6D420F4D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043B7-E1E3-4E52-9129-5EE94F06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questId + 좌표 전송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51B35-90C9-4529-84D5-482DD6B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295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A85FD-A6A6-42CF-BABA-ECBE82F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목표 좌표 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3B414-272B-454E-A6AA-D5B26978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861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0C333-A625-41B3-824B-D3BCEEA6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861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872B1-A99F-4FAB-8B16-881C1BCF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861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거리 계산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40FA8-5BC9-4486-81B1-8F5AC82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861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131A7-8F0D-4950-8A59-02BE925C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86125"/>
            <a:ext cx="1295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07A8E-0EDC-49EA-AF99-4050A13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861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반경 조건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C529D-5A88-4753-A023-DB489D46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86125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9EAE2-D4AB-4B8C-B7C6-5BDA2755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86125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9341E-AF13-4F11-8962-1700FEA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완료 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71E2E-529F-49E2-9F84-43873D47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D7C40-08B3-4C2D-A081-ED5228C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87B5"/>
          </a:solidFill>
          <a:ln xmlns:a="http://schemas.openxmlformats.org/drawingml/2006/main" w="9525">
            <a:solidFill>
              <a:srgbClr val="9C87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25D11-5A1F-412E-BAEE-7EAE5803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585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신뢰 경계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D6363B-933E-432F-843C-749538FF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57800"/>
            <a:ext cx="817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앱은 권한과 위치를 수집하고, 서버가 최종 완료 조건을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442024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9534B-062A-44C2-A4B5-E6BEA847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4C557-1605-47E8-B86B-93B20D91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운영 변경은 기록을 보존하면서 신규 사용자 경험에 반영한다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5F7A8-FFC5-462C-A21D-550A91C1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B3A61-B879-456C-B9E9-DCA41784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7E70E-AADC-4A27-ACCB-37F72DE0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81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BFEA9-1C7E-4A1C-BF37-BEFAD465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Admin Quest 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40114-B199-41F0-AA0B-21B45952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00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9B228-FC1C-4C40-A6D5-8D71B4F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98AE1-5059-4EB7-817E-730806E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02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권한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D5480-49CE-4F9A-BE7F-5ACB5D78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0EC6B-8005-46AE-9244-FF77878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8237F-0CEA-4112-B788-609FBE23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Catalog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4934E-CE85-4FDD-B18D-BC597E69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4097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733C0-77B7-4FC8-A3F2-21E703E8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사용자 앱 재조회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0DB21-40A4-432D-8700-715799D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33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EF2C3-2250-4572-9A26-B2146634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1295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F91F5-4521-450B-9F90-032BBBF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신규 할당 반영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F6786-062D-4E3F-9998-C5C9537B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33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3F938-5E46-4FE4-9DDA-791204C5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4ACF9-1490-40DA-86E2-F6F101B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기존 완료 기록 보존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4B6FB-422F-44D7-B155-B71C2153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5030"/>
                </a:solidFill>
              </a:defRPr>
            </a:pPr>
            <a:r>
              <a:rPr sz="1800" b="1">
                <a:solidFill>
                  <a:srgbClr val="3F5030"/>
                </a:solidFill>
              </a:rPr>
              <a:t>카탈로그 정의와 사용자 수행 이력을 분리해 운영 안정성을 확보했습니다.</a:t>
            </a:r>
          </a:p>
        </p:txBody>
      </p:sp>
    </p:spTree>
    <p:extLst>
      <p:ext uri="{BB962C8B-B14F-4D97-AF65-F5344CB8AC3E}">
        <p14:creationId xmlns:p14="http://schemas.microsoft.com/office/powerpoint/2010/main" val="775381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63513-399A-4332-9D99-DBFEA42A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8A991-9F02-4637-BBF8-6185A13C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세 가지 문제를 서비스 경계로 해결했다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CFBA8-F6F0-4A64-8098-76C22D9E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F2C77-B429-49EF-A360-5D12CC60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13082-7E8B-4863-998F-34FCA4BB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C4D53-84A1-42CB-AD67-013B5394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79274-2819-4200-9233-5592B67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성장 데이터 일관성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B4456-74EA-40C4-A1F9-A606A01A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743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완료 서비스의 트랜잭션과 중복 방지 규칙으로 해결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81521-118F-42A4-96FD-6CD00834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DB972-A49A-4F04-9BC7-804CCDA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37CD0-37CE-45EC-85BF-65AD7A6B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9725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다중 클라이언트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8DCA3-0378-4732-BB7C-72090D9D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4743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앱·관리자 웹의 단일 REST API 진입점으로 해결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121E3-801B-43D6-AF65-1F10941B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A4620-00F5-44BB-8CA2-8680C0F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87B5"/>
          </a:solidFill>
          <a:ln xmlns:a="http://schemas.openxmlformats.org/drawingml/2006/main" w="9525">
            <a:solidFill>
              <a:srgbClr val="9C87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55ACC-B3BD-4743-B56C-A3ED9DA6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위치 예외 상황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37A2E-94FB-4B68-B72B-51A0F41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743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권한 확인과 서버 거리 검증의 책임 분리로 해결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874E5-3DC9-43B6-936D-4DA4A86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3A206-B671-4F1D-BC54-BFFD974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3DCE8-4D51-4539-85F2-209F24F7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협업 충돌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165A3-461A-4E13-B619-37E899F0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4743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공통 DTO·API 계약·Flyway 마이그레이션으로 해결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4EC64-9F80-4E86-8B24-AEB1AA6A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5030"/>
                </a:solidFill>
              </a:defRPr>
            </a:pPr>
            <a:r>
              <a:rPr sz="1800" b="1">
                <a:solidFill>
                  <a:srgbClr val="3F5030"/>
                </a:solidFill>
              </a:rPr>
              <a:t>기능 수보다 경계와 연결 규칙이 프로젝트 완성도를 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1139739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4FCA1-8763-4881-98D2-EF89547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792C6-0504-4AC7-BDFE-561AB37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프로젝트를 통해 전체 데이터 흐름을 이해했다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49A44-F591-4A90-8824-24D64A8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4B4F1-DE7A-43AC-91C2-65DD475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E9D5B-431F-4564-BE8C-E8B969D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5A924-EF6F-48C7-AA79-49ED1AFE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5A76C-0848-401A-B7A1-B222D06B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954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기능 간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C55AF-E558-40F9-8D30-AC49019E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29337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완료 하나가 성장·수집·소셜 데이터에 주는 영향을 추적했습니다.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C5FDC-EFEA-4C93-AE01-44A2B229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422C5-8B50-4891-B173-B4387A9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6A47"/>
          </a:solidFill>
          <a:ln xmlns:a="http://schemas.openxmlformats.org/drawingml/2006/main" w="9525">
            <a:solidFill>
              <a:srgbClr val="C96A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965DE-8714-4A6F-BCA5-3177DEDE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954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클라이언트–서버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81BC6-7309-492C-B0BE-B772D8F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57425"/>
            <a:ext cx="29337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사용자 행동부터 DB와 다시 화면 반영까지 전 과정을 구현했습니다.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E409C-8900-4A55-8D56-CD0696B2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B1700-80B4-4801-ABCB-98A68067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B94F"/>
          </a:solidFill>
          <a:ln xmlns:a="http://schemas.openxmlformats.org/drawingml/2006/main" w="9525">
            <a:solidFill>
              <a:srgbClr val="E7B9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624C8-866D-46D8-8393-AA9185B9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954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5030"/>
                </a:solidFill>
              </a:defRPr>
            </a:pPr>
            <a:r>
              <a:rPr sz="1725" b="1">
                <a:solidFill>
                  <a:srgbClr val="3F5030"/>
                </a:solidFill>
              </a:rPr>
              <a:t>협업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9BEAD-C317-46D6-BD80-D2424175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57425"/>
            <a:ext cx="29337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5344"/>
                </a:solidFill>
              </a:defRPr>
            </a:pPr>
            <a:r>
              <a:rPr sz="1350" b="0">
                <a:solidFill>
                  <a:srgbClr val="5C5344"/>
                </a:solidFill>
              </a:rPr>
              <a:t>API 계약과 데이터 구조를 팀의 공통 언어로 사용했습니다.</a:t>
            </a:r>
          </a:p>
        </p:txBody>
      </p:sp>
    </p:spTree>
    <p:extLst>
      <p:ext uri="{BB962C8B-B14F-4D97-AF65-F5344CB8AC3E}">
        <p14:creationId xmlns:p14="http://schemas.microsoft.com/office/powerpoint/2010/main" val="13622403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E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16B8D2-C4E3-4976-B48F-0EEB313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6A47"/>
                </a:solidFill>
              </a:defRPr>
            </a:pPr>
            <a:r>
              <a:rPr sz="975" b="1">
                <a:solidFill>
                  <a:srgbClr val="C96A47"/>
                </a:solidFill>
              </a:rPr>
              <a:t>TECHNICAL SPECIFICATION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4DA3A-F605-4543-AB73-2FB799C7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F5030"/>
                </a:solidFill>
              </a:defRPr>
            </a:pPr>
            <a:r>
              <a:rPr sz="2925" b="1">
                <a:solidFill>
                  <a:srgbClr val="3F5030"/>
                </a:solidFill>
              </a:rPr>
              <a:t>LifeQuest는 행동을 성장으로 연결하는 하나의 시스템이다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FC670-4AE3-448C-8E26-7140C920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7060"/>
                </a:solidFill>
              </a:defRPr>
            </a:pPr>
            <a:r>
              <a:rPr sz="1125" b="1">
                <a:solidFill>
                  <a:srgbClr val="7A7060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7B039-0263-4022-8F1A-C079AA0D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060"/>
                </a:solidFill>
              </a:defRPr>
            </a:pPr>
            <a:r>
              <a:rPr sz="825" b="0">
                <a:solidFill>
                  <a:srgbClr val="7A7060"/>
                </a:solidFill>
              </a:rPr>
              <a:t>LifeQuest |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44527-A912-4D3B-ACDF-C2CE28D6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91D0F-F20E-4C30-8E9B-5C13FB4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Flutter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20BB4-BD7A-49CA-B7A5-381B6EEF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D3FD0-2ADB-4BA2-97B6-6FD30AD3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1295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E58A7-DE3E-4376-8786-68ADA919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REST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3D1C6-499D-468A-98EC-12BA3702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08CC0-2F46-48F3-86E9-D599F5DD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880E8-FB8C-49D3-9711-8A384803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Spring Boot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C850-88FB-4D2E-9FC8-5D351558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5F87D-EEAA-4671-81DD-564D585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638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A2FC5-D631-42CA-878E-BB0B6F3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JPA / 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E11EB-8BF9-48F1-BBD5-E17516C5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99650-4A6A-4252-BB6D-F12F9F4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40CBB-9A08-470C-8CF8-3F74A6D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DAC84-372F-4FBC-93B1-B3E5F8AA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36ACA-978E-4723-9602-B40718F0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GROWTH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B7D29-0EE6-4CB2-BF01-1925FF74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E8F23-193D-4CE3-B1DC-9719B828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524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8F0DA-9B4E-4CE8-A379-6A471FAC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COLLECTION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86617-F55D-47A5-A8E5-1C8F013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5AEF02-9DB9-42F9-A6B7-975831E8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D0D1AC-6355-4D95-B927-11F6804D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4800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SOCIAL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C22E19-4E93-4CD1-B71C-C64ED794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61967-0E26-4ADE-AEED-1D81FF8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81C67-96A9-49FA-B104-96BD84F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EED10-DB93-47A8-AF36-B96C2635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30F71-FEFE-4CDD-B7A0-62C2FE1B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862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GPS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813F2-3B9F-4199-9250-F69EC17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19BCAA-3790-41EF-A831-5F346D75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DB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E52A1-4C24-4E31-A659-9088E8E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862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43B2A"/>
                </a:solidFill>
              </a:defRPr>
            </a:pPr>
            <a:r>
              <a:rPr sz="1200" b="1">
                <a:solidFill>
                  <a:srgbClr val="443B2A"/>
                </a:solidFill>
              </a:rPr>
              <a:t>ADMIN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22867F-F067-470A-B713-F46DF38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6A47"/>
                </a:solidFill>
              </a:defRPr>
            </a:pPr>
            <a:r>
              <a:rPr sz="1800" b="1">
                <a:solidFill>
                  <a:srgbClr val="C96A47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566FDF-AD48-410D-BB54-AA158880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5663D"/>
          </a:solidFill>
          <a:ln xmlns:a="http://schemas.openxmlformats.org/drawingml/2006/main" w="9525">
            <a:solidFill>
              <a:srgbClr val="5566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D7534E-0563-41A7-94AB-190DB99C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6"/>
                </a:solidFill>
              </a:defRPr>
            </a:pPr>
            <a:r>
              <a:rPr sz="1200" b="1">
                <a:solidFill>
                  <a:srgbClr val="FFFDF6"/>
                </a:solidFill>
              </a:rPr>
              <a:t>JWT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8B1DB7-D2FC-4C3B-8C53-642BDF9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F5030"/>
                </a:solidFill>
              </a:defRPr>
            </a:pPr>
            <a:r>
              <a:rPr sz="1875" b="1">
                <a:solidFill>
                  <a:srgbClr val="3F5030"/>
                </a:solidFill>
              </a:rPr>
              <a:t>현실의 행동을 퀘스트로 만들고, 퀘스트의 기록을 사용자의 성장으로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450833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2026-08-12T03:07:46.7910000Z</dcterms:created>
  <dcterms:modified xsi:type="dcterms:W3CDTF">2026-08-12T03:07:46.7910000Z</dcterms:modified>
</coreProperties>
</file>